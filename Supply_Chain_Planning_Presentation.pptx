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c718a24-93a4-e7f2-4f61-6c3a31f8b3c0}">
          <p14:sldIdLst>
            <p14:sldId id="256"/>
          </p14:sldIdLst>
        </p14:section>
        <p14:section name="Context" id="{f58e599c-1663-ed59-f364-4ac6ede0e20a}">
          <p14:sldIdLst>
            <p14:sldId id="257"/>
            <p14:sldId id="258"/>
          </p14:sldIdLst>
        </p14:section>
        <p14:section name="Analysis" id="{9c3e30fe-926a-ea82-de7b-3b832a516211}">
          <p14:sldIdLst>
            <p14:sldId id="259"/>
            <p14:sldId id="260"/>
            <p14:sldId id="261"/>
          </p14:sldIdLst>
        </p14:section>
        <p14:section name="Wrap-up" id="{80a4de6b-f57e-8d9e-11fd-af295afef580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0"/>
                </a:solidFill>
                <a:latin typeface="+mn-lt"/>
              </a:rPr>
              <a:t>Total monthly demand (units)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demand</c:v>
                </c:pt>
              </c:strCache>
            </c:strRef>
          </c:tx>
          <c:spPr>
            <a:solidFill>
              <a:srgbClr val="0B3C49"/>
            </a:solidFill>
            <a:ln w="31750" cap="flat">
              <a:solidFill>
                <a:srgbClr val="0B3C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Jan-25</c:v>
                  </c:pt>
                  <c:pt idx="1">
                    <c:v>Feb-25</c:v>
                  </c:pt>
                  <c:pt idx="2">
                    <c:v>Mar-25</c:v>
                  </c:pt>
                  <c:pt idx="3">
                    <c:v>Apr-25</c:v>
                  </c:pt>
                  <c:pt idx="4">
                    <c:v>May-25</c:v>
                  </c:pt>
                  <c:pt idx="5">
                    <c:v>Jun-25</c:v>
                  </c:pt>
                  <c:pt idx="6">
                    <c:v>Jul-25</c:v>
                  </c:pt>
                  <c:pt idx="7">
                    <c:v>Aug-25</c:v>
                  </c:pt>
                  <c:pt idx="8">
                    <c:v>Sep-25</c:v>
                  </c:pt>
                  <c:pt idx="9">
                    <c:v>Oct-25</c:v>
                  </c:pt>
                  <c:pt idx="10">
                    <c:v>Nov-25</c:v>
                  </c:pt>
                  <c:pt idx="11">
                    <c:v>Dec-25</c:v>
                  </c:pt>
                  <c:pt idx="12">
                    <c:v>Jan-26</c:v>
                  </c:pt>
                  <c:pt idx="13">
                    <c:v>Feb-26</c:v>
                  </c:pt>
                  <c:pt idx="14">
                    <c:v>Mar-26</c:v>
                  </c:pt>
                  <c:pt idx="15">
                    <c:v>Apr-26</c:v>
                  </c:pt>
                  <c:pt idx="16">
                    <c:v>May-26</c:v>
                  </c:pt>
                  <c:pt idx="17">
                    <c:v>Jun-26</c:v>
                  </c:pt>
                  <c:pt idx="18">
                    <c:v>Jul-26</c:v>
                  </c:pt>
                  <c:pt idx="19">
                    <c:v>Aug-26</c:v>
                  </c:pt>
                  <c:pt idx="20">
                    <c:v>Sep-26</c:v>
                  </c:pt>
                  <c:pt idx="21">
                    <c:v>Oct-26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5904</c:v>
                </c:pt>
                <c:pt idx="1">
                  <c:v>5063</c:v>
                </c:pt>
                <c:pt idx="2">
                  <c:v>5768</c:v>
                </c:pt>
                <c:pt idx="3">
                  <c:v>6464</c:v>
                </c:pt>
                <c:pt idx="4">
                  <c:v>5926</c:v>
                </c:pt>
                <c:pt idx="5">
                  <c:v>6084</c:v>
                </c:pt>
                <c:pt idx="6">
                  <c:v>6116</c:v>
                </c:pt>
                <c:pt idx="7">
                  <c:v>6816</c:v>
                </c:pt>
                <c:pt idx="8">
                  <c:v>7418</c:v>
                </c:pt>
                <c:pt idx="9">
                  <c:v>6779</c:v>
                </c:pt>
                <c:pt idx="10">
                  <c:v>8738</c:v>
                </c:pt>
                <c:pt idx="11">
                  <c:v>9044</c:v>
                </c:pt>
                <c:pt idx="12">
                  <c:v>6084</c:v>
                </c:pt>
                <c:pt idx="13">
                  <c:v>6498</c:v>
                </c:pt>
                <c:pt idx="14">
                  <c:v>6710</c:v>
                </c:pt>
                <c:pt idx="15">
                  <c:v>7253</c:v>
                </c:pt>
                <c:pt idx="16">
                  <c:v>7096</c:v>
                </c:pt>
                <c:pt idx="17">
                  <c:v>6969</c:v>
                </c:pt>
                <c:pt idx="18">
                  <c:v>6765</c:v>
                </c:pt>
                <c:pt idx="19">
                  <c:v>7360</c:v>
                </c:pt>
                <c:pt idx="20">
                  <c:v>7347</c:v>
                </c:pt>
                <c:pt idx="2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F28C28"/>
            </a:solidFill>
            <a:ln w="3175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Jan-25</c:v>
                  </c:pt>
                  <c:pt idx="1">
                    <c:v>Feb-25</c:v>
                  </c:pt>
                  <c:pt idx="2">
                    <c:v>Mar-25</c:v>
                  </c:pt>
                  <c:pt idx="3">
                    <c:v>Apr-25</c:v>
                  </c:pt>
                  <c:pt idx="4">
                    <c:v>May-25</c:v>
                  </c:pt>
                  <c:pt idx="5">
                    <c:v>Jun-25</c:v>
                  </c:pt>
                  <c:pt idx="6">
                    <c:v>Jul-25</c:v>
                  </c:pt>
                  <c:pt idx="7">
                    <c:v>Aug-25</c:v>
                  </c:pt>
                  <c:pt idx="8">
                    <c:v>Sep-25</c:v>
                  </c:pt>
                  <c:pt idx="9">
                    <c:v>Oct-25</c:v>
                  </c:pt>
                  <c:pt idx="10">
                    <c:v>Nov-25</c:v>
                  </c:pt>
                  <c:pt idx="11">
                    <c:v>Dec-25</c:v>
                  </c:pt>
                  <c:pt idx="12">
                    <c:v>Jan-26</c:v>
                  </c:pt>
                  <c:pt idx="13">
                    <c:v>Feb-26</c:v>
                  </c:pt>
                  <c:pt idx="14">
                    <c:v>Mar-26</c:v>
                  </c:pt>
                  <c:pt idx="15">
                    <c:v>Apr-26</c:v>
                  </c:pt>
                  <c:pt idx="16">
                    <c:v>May-26</c:v>
                  </c:pt>
                  <c:pt idx="17">
                    <c:v>Jun-26</c:v>
                  </c:pt>
                  <c:pt idx="18">
                    <c:v>Jul-26</c:v>
                  </c:pt>
                  <c:pt idx="19">
                    <c:v>Aug-26</c:v>
                  </c:pt>
                  <c:pt idx="20">
                    <c:v>Sep-26</c:v>
                  </c:pt>
                  <c:pt idx="21">
                    <c:v>Oct-26</c:v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7541.33333333333</c:v>
                </c:pt>
                <c:pt idx="1">
                  <c:v>7436.66666666667</c:v>
                </c:pt>
                <c:pt idx="2">
                  <c:v>6577.66666666667</c:v>
                </c:pt>
                <c:pt idx="3">
                  <c:v>5578.33333333333</c:v>
                </c:pt>
                <c:pt idx="4">
                  <c:v>5765</c:v>
                </c:pt>
                <c:pt idx="5">
                  <c:v>6052.66666666667</c:v>
                </c:pt>
                <c:pt idx="6">
                  <c:v>6158</c:v>
                </c:pt>
                <c:pt idx="7">
                  <c:v>6042</c:v>
                </c:pt>
                <c:pt idx="8">
                  <c:v>6338.66666666667</c:v>
                </c:pt>
                <c:pt idx="9">
                  <c:v>6783.33333333333</c:v>
                </c:pt>
                <c:pt idx="10">
                  <c:v>7004.33333333333</c:v>
                </c:pt>
                <c:pt idx="11">
                  <c:v>7645</c:v>
                </c:pt>
                <c:pt idx="12">
                  <c:v>8187</c:v>
                </c:pt>
                <c:pt idx="13">
                  <c:v>7955.33333333333</c:v>
                </c:pt>
                <c:pt idx="14">
                  <c:v>7208.66666666667</c:v>
                </c:pt>
                <c:pt idx="15">
                  <c:v>6430.66666666667</c:v>
                </c:pt>
                <c:pt idx="16">
                  <c:v>6820.33333333333</c:v>
                </c:pt>
                <c:pt idx="17">
                  <c:v>7019.66666666667</c:v>
                </c:pt>
                <c:pt idx="18">
                  <c:v>7106</c:v>
                </c:pt>
                <c:pt idx="19">
                  <c:v>6943.33333333333</c:v>
                </c:pt>
                <c:pt idx="20">
                  <c:v>7031.33333333333</c:v>
                </c:pt>
                <c:pt idx="21">
                  <c:v>7157.33333333333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0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0"/>
                </a:solidFill>
                <a:latin typeface="+mn-lt"/>
              </a:rPr>
              <a:t>Current stock vs reorder point (units)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stock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S01</c:v>
                  </c:pt>
                  <c:pt idx="1">
                    <c:v>S02</c:v>
                  </c:pt>
                  <c:pt idx="2">
                    <c:v>S03</c:v>
                  </c:pt>
                  <c:pt idx="3">
                    <c:v>S04</c:v>
                  </c:pt>
                  <c:pt idx="4">
                    <c:v>S05</c:v>
                  </c:pt>
                  <c:pt idx="5">
                    <c:v>S06</c:v>
                  </c:pt>
                  <c:pt idx="6">
                    <c:v>S07</c:v>
                  </c:pt>
                  <c:pt idx="7">
                    <c:v>S08</c:v>
                  </c:pt>
                  <c:pt idx="8">
                    <c:v>S09</c:v>
                  </c:pt>
                  <c:pt idx="9">
                    <c:v>S10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1340</c:v>
                </c:pt>
                <c:pt idx="1">
                  <c:v>1122</c:v>
                </c:pt>
                <c:pt idx="2">
                  <c:v>1205</c:v>
                </c:pt>
                <c:pt idx="3">
                  <c:v>813</c:v>
                </c:pt>
                <c:pt idx="4">
                  <c:v>773</c:v>
                </c:pt>
                <c:pt idx="5">
                  <c:v>638</c:v>
                </c:pt>
                <c:pt idx="6">
                  <c:v>191</c:v>
                </c:pt>
                <c:pt idx="7">
                  <c:v>252</c:v>
                </c:pt>
                <c:pt idx="8">
                  <c:v>635</c:v>
                </c:pt>
                <c:pt idx="9">
                  <c:v>391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S01</c:v>
                  </c:pt>
                  <c:pt idx="1">
                    <c:v>S02</c:v>
                  </c:pt>
                  <c:pt idx="2">
                    <c:v>S03</c:v>
                  </c:pt>
                  <c:pt idx="3">
                    <c:v>S04</c:v>
                  </c:pt>
                  <c:pt idx="4">
                    <c:v>S05</c:v>
                  </c:pt>
                  <c:pt idx="5">
                    <c:v>S06</c:v>
                  </c:pt>
                  <c:pt idx="6">
                    <c:v>S07</c:v>
                  </c:pt>
                  <c:pt idx="7">
                    <c:v>S08</c:v>
                  </c:pt>
                  <c:pt idx="8">
                    <c:v>S09</c:v>
                  </c:pt>
                  <c:pt idx="9">
                    <c:v>S10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1645</c:v>
                </c:pt>
                <c:pt idx="1">
                  <c:v>1183</c:v>
                </c:pt>
                <c:pt idx="2">
                  <c:v>1080</c:v>
                </c:pt>
                <c:pt idx="3">
                  <c:v>602</c:v>
                </c:pt>
                <c:pt idx="4">
                  <c:v>818</c:v>
                </c:pt>
                <c:pt idx="5">
                  <c:v>887</c:v>
                </c:pt>
                <c:pt idx="6">
                  <c:v>276</c:v>
                </c:pt>
                <c:pt idx="7">
                  <c:v>208</c:v>
                </c:pt>
                <c:pt idx="8">
                  <c:v>495</c:v>
                </c:pt>
                <c:pt idx="9">
                  <c:v>666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0"/>
                </a:solidFill>
                <a:latin typeface="+mn-lt"/>
              </a:rPr>
              <a:t>Annual consumption value by SKU, ranked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value ($)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FB7B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FB7B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S06</c:v>
                  </c:pt>
                  <c:pt idx="1">
                    <c:v>S02</c:v>
                  </c:pt>
                  <c:pt idx="2">
                    <c:v>S05</c:v>
                  </c:pt>
                  <c:pt idx="3">
                    <c:v>S09</c:v>
                  </c:pt>
                  <c:pt idx="4">
                    <c:v>S04</c:v>
                  </c:pt>
                  <c:pt idx="5">
                    <c:v>S03</c:v>
                  </c:pt>
                  <c:pt idx="6">
                    <c:v>S10</c:v>
                  </c:pt>
                  <c:pt idx="7">
                    <c:v>S01</c:v>
                  </c:pt>
                  <c:pt idx="8">
                    <c:v>S08</c:v>
                  </c:pt>
                  <c:pt idx="9">
                    <c:v>S07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290565</c:v>
                </c:pt>
                <c:pt idx="1">
                  <c:v>188676</c:v>
                </c:pt>
                <c:pt idx="2">
                  <c:v>145750</c:v>
                </c:pt>
                <c:pt idx="3">
                  <c:v>90046</c:v>
                </c:pt>
                <c:pt idx="4">
                  <c:v>84900</c:v>
                </c:pt>
                <c:pt idx="5">
                  <c:v>51832</c:v>
                </c:pt>
                <c:pt idx="6">
                  <c:v>40435</c:v>
                </c:pt>
                <c:pt idx="7">
                  <c:v>32638.8</c:v>
                </c:pt>
                <c:pt idx="8">
                  <c:v>22764</c:v>
                </c:pt>
                <c:pt idx="9">
                  <c:v>18695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simple end-to-end supply chain planning analysis using only Excel and PowerPoint. All data is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step briefly. Formulas are live in the Excel workbook so the assumptions can be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forecast error (RMSE) per SKU feeds the safety stock calculation, so more volatile items hold more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policy: when stock is at or below ROP, order up to ROP plus EOQ. S01 to S10 correspond to SKU01 to SKU10 in the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Classes: A is the first 80% of cumulative value, B the next 15%, C the last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Supply Chain Planning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SUPPLY CHAIN PLANNING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and inventory optimization for a 10-SKU distributor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Forecast  |  Safety stock  |  Reorder point  |  EOQ  |  ABC analysis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Built with Microsoft Excel and PowerPoint  |  Ajay Katari  |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service level vs. inventory cost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distributor of electronics accessories must decide how much to order and when, for 10 products with different demand, cost and supplier lead times.</a:t>
            </a:r>
            <a:endParaRPr lang="en-US" sz="1600" dirty="0"/>
          </a:p>
        </p:txBody>
      </p:sp>
      <p:sp>
        <p:nvSpPr>
          <p:cNvPr id="4" name="Stat card 1"/>
          <p:cNvSpPr/>
          <p:nvPr/>
        </p:nvSpPr>
        <p:spPr>
          <a:xfrm>
            <a:off x="457200" y="2011680"/>
            <a:ext cx="19202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86,643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demanded in the last 12 months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2542032" y="2011680"/>
            <a:ext cx="19202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33472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$966,302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consumption value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626864" y="2011680"/>
            <a:ext cx="19202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18304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SKUs, 14 to 40 day lead times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6711696" y="2011680"/>
            <a:ext cx="19202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03136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803136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target service level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 little stock means lost sales. Too much ties up cash. The goal is a rule-based plan that answers: how much to forecast, how much buffer to hold, when to reorder and how much to order.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four steps, all built in Excel</a:t>
            </a:r>
            <a:endParaRPr lang="en-US" sz="2600" dirty="0"/>
          </a:p>
        </p:txBody>
      </p:sp>
      <p:sp>
        <p:nvSpPr>
          <p:cNvPr id="3" name="Step circle 1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3-month moving average on 24 months of demand. Accuracy via MAPE and RMSE.</a:t>
            </a:r>
            <a:endParaRPr lang="en-US" sz="1400" dirty="0"/>
          </a:p>
        </p:txBody>
      </p:sp>
      <p:sp>
        <p:nvSpPr>
          <p:cNvPr id="7" name="Step circle 2"/>
          <p:cNvSpPr/>
          <p:nvPr/>
        </p:nvSpPr>
        <p:spPr>
          <a:xfrm>
            <a:off x="2542032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4203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011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stock and ROP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6974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Buffer for demand and lead-time variability at 95% service. ROP = demand during lead time + buffer.</a:t>
            </a:r>
            <a:endParaRPr lang="en-US" sz="1400" dirty="0"/>
          </a:p>
        </p:txBody>
      </p:sp>
      <p:sp>
        <p:nvSpPr>
          <p:cNvPr id="11" name="Step circle 3"/>
          <p:cNvSpPr/>
          <p:nvPr/>
        </p:nvSpPr>
        <p:spPr>
          <a:xfrm>
            <a:off x="4626864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686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011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6974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 size that minimizes ordering plus holding cost.</a:t>
            </a:r>
            <a:endParaRPr lang="en-US" sz="1400" dirty="0"/>
          </a:p>
        </p:txBody>
      </p:sp>
      <p:sp>
        <p:nvSpPr>
          <p:cNvPr id="15" name="Step circle 4"/>
          <p:cNvSpPr/>
          <p:nvPr/>
        </p:nvSpPr>
        <p:spPr>
          <a:xfrm>
            <a:off x="6711696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11696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011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 analysis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6974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 SKUs by annual value to focus control where it pays.</a:t>
            </a:r>
            <a:endParaRPr lang="en-US" sz="1400" dirty="0"/>
          </a:p>
        </p:txBody>
      </p:sp>
      <p:sp>
        <p:nvSpPr>
          <p:cNvPr id="19" name="Formula strip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ROP = daily demand x lead time + safety stock      EOQ = SQRT(2 x annual demand x order cost / holding cost)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seasonal and the forecast lags it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forecast error (MAPE) across SKUs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5603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November and December peak about 30% to 40% above average.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moving average lags seasonal swings, which raises error for volatile SKUs such as smartwatches.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10 SKUs need reordering now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SKU01, SKU02, SKU05, SKU06, SKU07, SKU10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 a purchase order now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8,340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to order, about $69,370 at cost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Safety stock across all SKUs is worth $39,338.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A-class SKUs drive 83% of the value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lass badge A"/>
          <p:cNvSpPr/>
          <p:nvPr/>
        </p:nvSpPr>
        <p:spPr>
          <a:xfrm>
            <a:off x="6309360" y="1097280"/>
            <a:ext cx="640080" cy="6400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SKUs, 83% of value</a:t>
            </a:r>
            <a:endParaRPr lang="en-US" sz="1400" dirty="0"/>
          </a:p>
        </p:txBody>
      </p:sp>
      <p:sp>
        <p:nvSpPr>
          <p:cNvPr id="7" name="Class badge B"/>
          <p:cNvSpPr/>
          <p:nvPr/>
        </p:nvSpPr>
        <p:spPr>
          <a:xfrm>
            <a:off x="63093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SKUs, 13% of value</a:t>
            </a:r>
            <a:endParaRPr lang="en-US" sz="1400" dirty="0"/>
          </a:p>
        </p:txBody>
      </p:sp>
      <p:sp>
        <p:nvSpPr>
          <p:cNvPr id="10" name="Class badge C"/>
          <p:cNvSpPr/>
          <p:nvPr/>
        </p:nvSpPr>
        <p:spPr>
          <a:xfrm>
            <a:off x="6309360" y="3291840"/>
            <a:ext cx="640080" cy="640080"/>
          </a:xfrm>
          <a:prstGeom prst="ellipse">
            <a:avLst/>
          </a:prstGeom>
          <a:solidFill>
            <a:srgbClr val="7FB7B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SKUs, 4% of value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items get tight control and frequent review. C items can use simpler, larger-batch rules.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Recommendation card 1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Rec badge 1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orders now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 purchase orders for SKU01, SKU02, SKU05, SKU06, SKU07, SKU10 using the suggested quantities (order up to ROP plus EOQ).</a:t>
            </a:r>
            <a:endParaRPr lang="en-US" sz="1400" dirty="0"/>
          </a:p>
        </p:txBody>
      </p:sp>
      <p:sp>
        <p:nvSpPr>
          <p:cNvPr id="8" name="Recommendation card 2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Rec badge 2"/>
          <p:cNvSpPr/>
          <p:nvPr/>
        </p:nvSpPr>
        <p:spPr>
          <a:xfrm>
            <a:off x="4846320" y="12801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A items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A-class SKUs weekly. Smartwatch alone is 30% of annual value.</a:t>
            </a:r>
            <a:endParaRPr lang="en-US" sz="1400" dirty="0"/>
          </a:p>
        </p:txBody>
      </p:sp>
      <p:sp>
        <p:nvSpPr>
          <p:cNvPr id="13" name="Recommendation card 3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Rec badge 3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for the peak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stock ahead of November and December, when demand runs 30% to 40% above average.</a:t>
            </a:r>
            <a:endParaRPr lang="en-US" sz="1400" dirty="0"/>
          </a:p>
        </p:txBody>
      </p:sp>
      <p:sp>
        <p:nvSpPr>
          <p:cNvPr id="18" name="Recommendation card 4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Rec badge 4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the forecast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seasonal or exponential smoothing models to cut the 19% error and reduce safety stock.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Demand forecasting with accuracy measurement (MAPE, RMSE)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Inventory policy: safety stock, reorder point and EOQ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ABC (Pareto) classification and reorder alerts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formula-driven Excel model with a dashboard, summarized in PowerPoint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Data is synthetic and created for learning. Model file: Supply_Chain_Planning_Model.xlsx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ply Chain Teal">
  <a:themeElements>
    <a:clrScheme name="Supply Chain Teal">
      <a:dk1>
        <a:srgbClr val="1B2A30"/>
      </a:dk1>
      <a:lt1>
        <a:srgbClr val="FFFFFF"/>
      </a:lt1>
      <a:dk2>
        <a:srgbClr val="0B3C49"/>
      </a:dk2>
      <a:lt2>
        <a:srgbClr val="E8F1F2"/>
      </a:lt2>
      <a:accent1>
        <a:srgbClr val="0B3C49"/>
      </a:accent1>
      <a:accent2>
        <a:srgbClr val="F28C28"/>
      </a:accent2>
      <a:accent3>
        <a:srgbClr val="1C7293"/>
      </a:accent3>
      <a:accent4>
        <a:srgbClr val="7FB7BE"/>
      </a:accent4>
      <a:accent5>
        <a:srgbClr val="C8553D"/>
      </a:accent5>
      <a:accent6>
        <a:srgbClr val="6B7F86"/>
      </a:accent6>
      <a:hlink>
        <a:srgbClr val="1C7293"/>
      </a:hlink>
      <a:folHlink>
        <a:srgbClr val="6B7F86"/>
      </a:folHlink>
    </a:clrScheme>
    <a:fontScheme name="Supply Chain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Planning: Forecasting and Inventory Optimization</dc:title>
  <dc:subject>PptxGenJS Presentation</dc:subject>
  <dc:creator>Ajay Katari</dc:creator>
  <cp:lastModifiedBy>Ajay Katari</cp:lastModifiedBy>
  <cp:revision>1</cp:revision>
  <dcterms:created xsi:type="dcterms:W3CDTF">2026-10-17T10:58:28Z</dcterms:created>
  <dcterms:modified xsi:type="dcterms:W3CDTF">2026-10-17T10:58:28Z</dcterms:modified>
</cp:coreProperties>
</file>